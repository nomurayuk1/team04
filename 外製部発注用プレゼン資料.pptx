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9" r:id="rId7"/>
    <p:sldId id="260" r:id="rId8"/>
    <p:sldId id="261" r:id="rId9"/>
    <p:sldId id="262" r:id="rId10"/>
    <p:sldId id="263" r:id="rId11"/>
    <p:sldId id="259" r:id="rId12"/>
    <p:sldId id="264" r:id="rId13"/>
    <p:sldId id="267" r:id="rId14"/>
    <p:sldId id="268" r:id="rId15"/>
    <p:sldId id="266" r:id="rId16"/>
    <p:sldId id="265" r:id="rId1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3C26B9-DD3A-D6F7-885A-26CBEBFD8101}" name="TOMIMASU Koyu" initials="TK" userId="S::m520319c@mails.cc.ehime-u.ac.jp::ec3a7650-a1bb-4db6-aa2d-11d2a5b1b1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BD7FE7-A890-825B-E759-856AC162B3A4}" v="487" dt="2026-05-29T14:32:29.229"/>
    <p1510:client id="{9E809DC5-2FBF-C280-D4F0-41FC56648342}" v="359" dt="2026-05-29T15:35:49.516"/>
    <p1510:client id="{B3A4CF71-75F9-C3F3-5487-D2D3F0DDCDBE}" v="30" dt="2026-05-29T14:44:54.807"/>
    <p1510:client id="{D8C3C89A-74F8-911A-8145-EDB9B3954868}" v="46" dt="2026-05-29T15:55:15.6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C19778-6F47-4EDD-4B8A-DB75A81473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C569182-2C89-B473-CA2B-9E6E265830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F876DC-53E1-6DC2-E33F-C4CC38A17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3C55-EDDA-4306-A312-F8B34D43157E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E3B408-82A5-DAF6-4749-D8A96FDEE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8C795C-A051-C71C-34B8-B4668F7FB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D0903-ACC7-48B1-9566-E3F422EBB2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3650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E37774-1199-739A-403D-7919569B2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C220CE-FD12-DDE2-0B54-55D507F7F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98F252-3C75-DC44-58F3-9AC579CFF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3C55-EDDA-4306-A312-F8B34D43157E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2BFC48-2E47-CA65-831C-9C5DA3F97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1019D8-C3F1-FF3E-BE7A-17E4268F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D0903-ACC7-48B1-9566-E3F422EBB2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2860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1B6739-5165-44BD-2ED2-48A6FC673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3E14D5C-C48C-72B0-7955-8DD9D5657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35B8A3-7D01-6B52-A9A2-A4E39062C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3C55-EDDA-4306-A312-F8B34D43157E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A0C4F2-449A-1E02-9EDD-1C53BDBCB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C62AA4-EF1B-DEC5-EF58-46AF195BD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D0903-ACC7-48B1-9566-E3F422EBB2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4031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8CE262-DD22-8DE2-C590-D8786BCA2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7CC2F59-46BD-8573-3241-4473FBA0D6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8AE129E-6E52-78CD-A06F-1F73CF3383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139DB1B-7E47-E9E7-2C04-06FAAA90D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3C55-EDDA-4306-A312-F8B34D43157E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799BD94-E2DC-C556-0F99-81902BDF2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19F7644-E7B9-8E28-6C86-728EF09EC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D0903-ACC7-48B1-9566-E3F422EBB2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7344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85CB85-60AD-8D66-0B97-2A6F4C82A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9B888E4-712C-A4FB-33D3-3E9F6450D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B8D431A-CEF6-7B50-8658-0A8C757AD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DBB9347-6408-C29E-5E43-9175AE5401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C86899A-B49F-CB88-D31E-4E46C1EF7A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A10ADDE-8584-E178-BC09-1C2ADB509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3C55-EDDA-4306-A312-F8B34D43157E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5F480C9-D779-BAFF-D95F-B1236FD69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37AC55F-7601-C8EF-EA1C-555C91B0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D0903-ACC7-48B1-9566-E3F422EBB2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2605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0F3725-34F3-4B12-ECDE-EF1693C2E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AD987D4-BC81-8D92-BF86-7C3544589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3C55-EDDA-4306-A312-F8B34D43157E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6953BEA-B731-CC75-0A60-34D8634E8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818D754-CA6D-B42B-EDDE-995C272E3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D0903-ACC7-48B1-9566-E3F422EBB2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0959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2260523-9843-B6DC-5A2B-73B010BE7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3C55-EDDA-4306-A312-F8B34D43157E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F8F6B9E-E33F-41AE-34D8-4BEC72C97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2F32DC3-1F47-1419-1767-ADFD3A406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D0903-ACC7-48B1-9566-E3F422EBB2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1932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8C4E20-AF07-0EF1-A153-6F862B1E3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9619FC-577A-AD31-DFAD-2E3C01C68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ED8F692-E54C-FA42-E9A3-D8D007F1E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01D3CDA-8E1E-969D-F5F2-C841DFC75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3C55-EDDA-4306-A312-F8B34D43157E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B8A5D2A-0CE3-728E-DA02-EA13CBE3A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AFFE899-5106-17AA-2087-56FF60F3D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D0903-ACC7-48B1-9566-E3F422EBB2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1540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9B052-4EF7-6331-6868-D47A5D9EF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19E14A3-E431-8F5E-BE5F-6DB01BC720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BC53B94-5FAB-8607-6A23-9289AB6C6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D386ACF-7411-2C8B-A2D3-FE8F947E7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3C55-EDDA-4306-A312-F8B34D43157E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6E0088-A046-9905-EC59-80D8D9918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097095-BBA5-B5B0-33FF-746DD1BAA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D0903-ACC7-48B1-9566-E3F422EBB2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2540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29B071-B426-BDB6-2105-587F5C14D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DBE3C84-7D07-2E1A-C863-D07AFC178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6D5B92-C9A4-3270-EFCB-47DC5367B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3C55-EDDA-4306-A312-F8B34D43157E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5C1BD8-D164-0F3A-F14F-7D3CCAD97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37323AD-4C97-D8EE-F174-9C8A111D2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D0903-ACC7-48B1-9566-E3F422EBB2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2382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825404E-15C5-D87C-149D-2CAFCAF6EF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5A0FF49-CF7A-A2A3-A6FC-8A74CB5AFD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FA65DD-D006-48AE-85F0-DE645D801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3C55-EDDA-4306-A312-F8B34D43157E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2E996E-FA4B-4435-73FD-E3464A0D0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7970F5-350C-E273-540A-9919668B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D0903-ACC7-48B1-9566-E3F422EBB2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4539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71EA034-5FC6-CD96-F8EB-A7F7A8FEF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7B58903-EBB9-EF13-DCDE-C41D83E48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0D84F4-4E4F-4428-1959-C7F047B754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953C55-EDDA-4306-A312-F8B34D43157E}" type="datetimeFigureOut">
              <a:rPr kumimoji="1" lang="ja-JP" altLang="en-US" smtClean="0"/>
              <a:t>2026/5/31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8FA3B69-21EA-2496-8E0B-412C5F5941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2CBD76-0A9D-D970-98C3-4D41885482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BD0903-ACC7-48B1-9566-E3F422EBB2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7291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ehime-u.ac.jp/%e5%9c%a8%e5%ad%a6%e7%94%9f%e3%81%ae%e6%96%b9/%e6%95%99%e5%93%a1%e3%83%bb%e3%82%b9%e3%82%bf%e3%83%83%e3%83%95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fukuno.jig.jp/app/map/latlng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5B571C62-2590-305B-D053-ED84B04D34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ja-JP" altLang="en-US" sz="7200" b="1">
                <a:solidFill>
                  <a:schemeClr val="tx2"/>
                </a:solidFill>
                <a:ea typeface="游ゴシック Light"/>
              </a:rPr>
              <a:t>ひめMAP</a:t>
            </a:r>
            <a:endParaRPr lang="ja-JP" altLang="en-US" sz="5200" b="1">
              <a:solidFill>
                <a:schemeClr val="tx2"/>
              </a:solidFill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3D223E0-3340-D9E9-89BC-16733F415E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ja-JP" altLang="en-US" sz="3600">
                <a:solidFill>
                  <a:schemeClr val="tx2"/>
                </a:solidFill>
                <a:ea typeface="游ゴシック"/>
              </a:rPr>
              <a:t>愛媛大学案内マップ</a:t>
            </a:r>
          </a:p>
          <a:p>
            <a:r>
              <a:rPr lang="ja-JP" altLang="en-US" sz="3600">
                <a:solidFill>
                  <a:schemeClr val="tx2"/>
                </a:solidFill>
                <a:ea typeface="游ゴシック"/>
              </a:rPr>
              <a:t>外製部発注説明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90571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17BDD930-0E65-490A-9CE5-554C357C4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A912C67-99A1-4956-8F68-1846C2177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AC6565-CB98-8958-516B-0D9A04BA8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54794"/>
            <a:ext cx="10579398" cy="1299411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solidFill>
                  <a:schemeClr val="tx2"/>
                </a:solidFill>
                <a:ea typeface="游ゴシック Light"/>
              </a:rPr>
              <a:t>Web</a:t>
            </a:r>
            <a:r>
              <a:rPr lang="ja-JP" altLang="en-US" b="1">
                <a:solidFill>
                  <a:schemeClr val="tx2"/>
                </a:solidFill>
                <a:ea typeface="游ゴシック Light"/>
              </a:rPr>
              <a:t>アプリ概要</a:t>
            </a:r>
            <a:endParaRPr lang="en-US" b="1">
              <a:solidFill>
                <a:schemeClr val="tx2"/>
              </a:solidFill>
              <a:ea typeface="游ゴシック Light" panose="0211000402020202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7AF4F-1941-EB70-5B4D-0E895FEC8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2153" y="565231"/>
            <a:ext cx="4731543" cy="627562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 sz="3200">
                <a:solidFill>
                  <a:schemeClr val="tx2"/>
                </a:solidFill>
                <a:ea typeface="游ゴシック"/>
              </a:rPr>
              <a:t>教授名、教室名を検索すると該当建物をマップ上に表示するWebアプリ</a:t>
            </a:r>
            <a:r>
              <a:rPr lang="ja-JP" altLang="en-US" sz="3200" b="1">
                <a:solidFill>
                  <a:schemeClr val="tx2"/>
                </a:solidFill>
                <a:ea typeface="游ゴシック"/>
              </a:rPr>
              <a:t>（城北キャンパスのみ）</a:t>
            </a:r>
          </a:p>
          <a:p>
            <a:r>
              <a:rPr lang="ja-JP" altLang="en-US" sz="3200">
                <a:solidFill>
                  <a:schemeClr val="tx2"/>
                </a:solidFill>
                <a:ea typeface="游ゴシック"/>
              </a:rPr>
              <a:t>主な機能：教授検索/教室検索/マップ表示/建物のフロアマップ表示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569E5994-073E-4708-B3E6-43BFED0CE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381784" y="4178643"/>
            <a:ext cx="3061444" cy="2297267"/>
            <a:chOff x="-305" y="-1"/>
            <a:chExt cx="3832880" cy="2876136"/>
          </a:xfrm>
        </p:grpSpPr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32F818D-9087-4691-AABA-465619A0C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8B7668A-5C96-4FB9-BFA9-38094EB87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BF4F95BD-8661-4C45-94E3-CF3159BF4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85BBF8A-E2FB-47F6-A60F-4FB855D50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0E55984-E833-D313-73D7-7385DD361B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17"/>
          <a:stretch>
            <a:fillRect/>
          </a:stretch>
        </p:blipFill>
        <p:spPr>
          <a:xfrm>
            <a:off x="-4753" y="1739749"/>
            <a:ext cx="7466911" cy="4057963"/>
          </a:xfrm>
          <a:prstGeom prst="rect">
            <a:avLst/>
          </a:prstGeom>
        </p:spPr>
      </p:pic>
      <p:grpSp>
        <p:nvGrpSpPr>
          <p:cNvPr id="85" name="Group 84">
            <a:extLst>
              <a:ext uri="{FF2B5EF4-FFF2-40B4-BE49-F238E27FC236}">
                <a16:creationId xmlns:a16="http://schemas.microsoft.com/office/drawing/2014/main" id="{DD81D498-EAA8-40F3-8230-AE4DEDA38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906190" y="0"/>
            <a:ext cx="3282247" cy="2837712"/>
            <a:chOff x="-305" y="-4155"/>
            <a:chExt cx="2514948" cy="2174333"/>
          </a:xfrm>
        </p:grpSpPr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62F2402-5879-41A3-ACEC-6D2811BA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BD41895-A230-4959-97BA-80F516383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670BD54-10A6-4092-9E32-647B2F870D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1C2B9A82-4826-4BF4-A16E-0B005FE76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3832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56F551-484E-E953-078E-3A9B656E6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224" y="268418"/>
            <a:ext cx="5755792" cy="1454051"/>
          </a:xfrm>
        </p:spPr>
        <p:txBody>
          <a:bodyPr>
            <a:normAutofit/>
          </a:bodyPr>
          <a:lstStyle/>
          <a:p>
            <a:r>
              <a:rPr lang="ja-JP" altLang="en-US" b="1">
                <a:solidFill>
                  <a:schemeClr val="tx2"/>
                </a:solidFill>
                <a:ea typeface="游ゴシック Light"/>
              </a:rPr>
              <a:t>システム利用イメージ</a:t>
            </a:r>
            <a:endParaRPr lang="en-US" b="1">
              <a:solidFill>
                <a:schemeClr val="tx2"/>
              </a:solidFill>
              <a:ea typeface="游ゴシック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62F47-2D98-47F6-0EC5-EE9746624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5687" y="2000877"/>
            <a:ext cx="4765949" cy="335347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ja-JP" altLang="en-US" sz="3200">
                <a:solidFill>
                  <a:schemeClr val="tx2"/>
                </a:solidFill>
                <a:ea typeface="游ゴシック"/>
              </a:rPr>
              <a:t>ユーザーが検索</a:t>
            </a:r>
            <a:endParaRPr lang="en-US" sz="3200">
              <a:solidFill>
                <a:schemeClr val="tx2"/>
              </a:solidFill>
              <a:ea typeface="游ゴシック"/>
            </a:endParaRPr>
          </a:p>
          <a:p>
            <a:pPr marL="0" indent="0">
              <a:buNone/>
            </a:pPr>
            <a:r>
              <a:rPr lang="ja-JP" altLang="en-US" sz="3200">
                <a:solidFill>
                  <a:schemeClr val="tx2"/>
                </a:solidFill>
                <a:ea typeface="游ゴシック"/>
              </a:rPr>
              <a:t>↓</a:t>
            </a:r>
          </a:p>
          <a:p>
            <a:pPr marL="0" indent="0">
              <a:buNone/>
            </a:pPr>
            <a:r>
              <a:rPr lang="ja-JP" altLang="en-US" sz="3200">
                <a:solidFill>
                  <a:schemeClr val="tx2"/>
                </a:solidFill>
                <a:ea typeface="游ゴシック"/>
              </a:rPr>
              <a:t>Excel/CSV検索</a:t>
            </a:r>
          </a:p>
          <a:p>
            <a:pPr marL="0" indent="0">
              <a:buNone/>
            </a:pPr>
            <a:r>
              <a:rPr lang="ja-JP" altLang="en-US" sz="3200">
                <a:solidFill>
                  <a:schemeClr val="tx2"/>
                </a:solidFill>
                <a:ea typeface="游ゴシック"/>
              </a:rPr>
              <a:t>↓</a:t>
            </a:r>
          </a:p>
          <a:p>
            <a:pPr marL="0" indent="0">
              <a:buNone/>
            </a:pPr>
            <a:r>
              <a:rPr lang="ja-JP" altLang="en-US" sz="3200">
                <a:solidFill>
                  <a:schemeClr val="tx2"/>
                </a:solidFill>
                <a:ea typeface="游ゴシック"/>
              </a:rPr>
              <a:t>建物情報取得</a:t>
            </a:r>
          </a:p>
          <a:p>
            <a:pPr marL="0" indent="0">
              <a:buNone/>
            </a:pPr>
            <a:r>
              <a:rPr lang="ja-JP" altLang="en-US" sz="3200">
                <a:solidFill>
                  <a:schemeClr val="tx2"/>
                </a:solidFill>
                <a:ea typeface="游ゴシック"/>
              </a:rPr>
              <a:t>↓</a:t>
            </a:r>
          </a:p>
          <a:p>
            <a:pPr marL="0" indent="0">
              <a:buNone/>
            </a:pPr>
            <a:r>
              <a:rPr lang="ja-JP" altLang="en-US" sz="3200">
                <a:solidFill>
                  <a:schemeClr val="tx2"/>
                </a:solidFill>
                <a:ea typeface="游ゴシック"/>
              </a:rPr>
              <a:t>マップ上へ表示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CB2238-C36E-BB4F-FAD7-1A5162CDF5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03" t="154" r="-216" b="1168"/>
          <a:stretch>
            <a:fillRect/>
          </a:stretch>
        </p:blipFill>
        <p:spPr>
          <a:xfrm>
            <a:off x="7492303" y="1526470"/>
            <a:ext cx="4563037" cy="4660365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Arrow: Right 6">
            <a:extLst>
              <a:ext uri="{FF2B5EF4-FFF2-40B4-BE49-F238E27FC236}">
                <a16:creationId xmlns:a16="http://schemas.microsoft.com/office/drawing/2014/main" id="{0F80C26C-B3AF-296E-4251-4B4B297DE193}"/>
              </a:ext>
            </a:extLst>
          </p:cNvPr>
          <p:cNvSpPr/>
          <p:nvPr/>
        </p:nvSpPr>
        <p:spPr>
          <a:xfrm>
            <a:off x="5245369" y="3413468"/>
            <a:ext cx="1706765" cy="870450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714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9F988D-BD49-A295-2D39-FDBA2D779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-5196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ja-JP" altLang="en-US" b="1">
                <a:solidFill>
                  <a:schemeClr val="tx2"/>
                </a:solidFill>
                <a:ea typeface="游ゴシック Light"/>
              </a:rPr>
              <a:t>外製部の役割と必要理由</a:t>
            </a:r>
            <a:endParaRPr kumimoji="1" lang="en-US" b="1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1B62A-8368-272C-2338-068E40135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6539" y="1545572"/>
            <a:ext cx="9833548" cy="269397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ja-JP" altLang="en-US" b="1">
                <a:solidFill>
                  <a:schemeClr val="tx2"/>
                </a:solidFill>
                <a:ea typeface="游ゴシック"/>
              </a:rPr>
              <a:t>外製部の役割↓</a:t>
            </a:r>
          </a:p>
          <a:p>
            <a:pPr marL="0" indent="0">
              <a:buNone/>
            </a:pPr>
            <a:r>
              <a:rPr lang="ja-JP" altLang="en-US" b="1">
                <a:solidFill>
                  <a:schemeClr val="tx2"/>
                </a:solidFill>
                <a:ea typeface="游ゴシック"/>
              </a:rPr>
              <a:t>・検索用データの作成・管理</a:t>
            </a:r>
          </a:p>
          <a:p>
            <a:pPr marL="0" indent="0">
              <a:buNone/>
            </a:pPr>
            <a:r>
              <a:rPr lang="ja-JP" altLang="en-US" b="1">
                <a:solidFill>
                  <a:schemeClr val="tx2"/>
                </a:solidFill>
                <a:ea typeface="游ゴシック"/>
              </a:rPr>
              <a:t>・Excel形式でデータを作成いてもらい、こちら側でCSVへ変換して利用する。</a:t>
            </a:r>
          </a:p>
          <a:p>
            <a:pPr marL="0" indent="0">
              <a:buNone/>
            </a:pPr>
            <a:r>
              <a:rPr lang="ja-JP" altLang="en-US" b="1">
                <a:solidFill>
                  <a:schemeClr val="tx2"/>
                </a:solidFill>
                <a:ea typeface="游ゴシック"/>
              </a:rPr>
              <a:t>・教室名および教授名を整理し、緯度・経度と対応付ける</a:t>
            </a:r>
          </a:p>
          <a:p>
            <a:pPr marL="0" indent="0">
              <a:buNone/>
            </a:pPr>
            <a:r>
              <a:rPr lang="ja-JP" altLang="en-US">
                <a:solidFill>
                  <a:schemeClr val="tx2"/>
                </a:solidFill>
                <a:ea typeface="游ゴシック"/>
              </a:rPr>
              <a:t>外製部が必要な理由↓</a:t>
            </a:r>
            <a:endParaRPr lang="ja-JP">
              <a:solidFill>
                <a:schemeClr val="tx2"/>
              </a:solidFill>
              <a:ea typeface="游ゴシック"/>
            </a:endParaRPr>
          </a:p>
          <a:p>
            <a:pPr marL="0" indent="0">
              <a:buNone/>
            </a:pPr>
            <a:r>
              <a:rPr lang="ja-JP" altLang="en-US">
                <a:solidFill>
                  <a:schemeClr val="tx2"/>
                </a:solidFill>
                <a:ea typeface="游ゴシック"/>
              </a:rPr>
              <a:t>・データ量が多い</a:t>
            </a:r>
          </a:p>
          <a:p>
            <a:pPr marL="0" indent="0">
              <a:buNone/>
            </a:pPr>
            <a:r>
              <a:rPr lang="ja-JP" altLang="en-US">
                <a:solidFill>
                  <a:schemeClr val="tx2"/>
                </a:solidFill>
                <a:ea typeface="游ゴシック"/>
              </a:rPr>
              <a:t>・情報収取に時間がかかる</a:t>
            </a:r>
          </a:p>
          <a:p>
            <a:pPr marL="0" indent="0">
              <a:buNone/>
            </a:pPr>
            <a:r>
              <a:rPr lang="ja-JP" altLang="en-US">
                <a:solidFill>
                  <a:schemeClr val="tx2"/>
                </a:solidFill>
                <a:ea typeface="游ゴシック"/>
              </a:rPr>
              <a:t>・メイン機能と独立して作業可能</a:t>
            </a:r>
          </a:p>
          <a:p>
            <a:pPr marL="0" indent="0">
              <a:buNone/>
            </a:pPr>
            <a:r>
              <a:rPr lang="ja-JP" altLang="en-US">
                <a:solidFill>
                  <a:schemeClr val="tx2"/>
                </a:solidFill>
                <a:ea typeface="游ゴシック"/>
              </a:rPr>
              <a:t>・ＣＳＶ形式への統一が必要</a:t>
            </a:r>
          </a:p>
          <a:p>
            <a:endParaRPr lang="ja-JP" altLang="en-US" sz="1100">
              <a:solidFill>
                <a:schemeClr val="tx2"/>
              </a:solidFill>
              <a:ea typeface="游ゴシック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23246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B239072-B623-E70A-0436-D459DB062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58" y="1647825"/>
            <a:ext cx="4724876" cy="4371974"/>
          </a:xfrm>
        </p:spPr>
        <p:txBody>
          <a:bodyPr>
            <a:normAutofit/>
          </a:bodyPr>
          <a:lstStyle/>
          <a:p>
            <a:r>
              <a:rPr lang="ja-JP" altLang="en-US" b="1">
                <a:solidFill>
                  <a:schemeClr val="tx2"/>
                </a:solidFill>
                <a:ea typeface="游ゴシック Light"/>
              </a:rPr>
              <a:t>教室名検索の仕様</a:t>
            </a:r>
            <a:endParaRPr kumimoji="1" lang="en-US" b="1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33D01-516A-534B-F130-AE8602EED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701" y="816578"/>
            <a:ext cx="6578535" cy="603999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ja-JP" altLang="en-US" sz="3600">
                <a:solidFill>
                  <a:schemeClr val="tx2"/>
                </a:solidFill>
                <a:ea typeface="游ゴシック"/>
              </a:rPr>
              <a:t>教室名を検索すると、その教室が含まれる建物を表示する</a:t>
            </a:r>
            <a:endParaRPr lang="en-US" altLang="ja-JP" sz="3600">
              <a:solidFill>
                <a:schemeClr val="tx2"/>
              </a:solidFill>
              <a:ea typeface="游ゴシック"/>
            </a:endParaRPr>
          </a:p>
          <a:p>
            <a:endParaRPr lang="ja-JP" altLang="en-US" sz="3600">
              <a:solidFill>
                <a:schemeClr val="tx2"/>
              </a:solidFill>
              <a:ea typeface="游ゴシック"/>
            </a:endParaRPr>
          </a:p>
          <a:p>
            <a:pPr marL="0" indent="0">
              <a:buNone/>
            </a:pPr>
            <a:r>
              <a:rPr lang="ja-JP" altLang="en-US" sz="3600">
                <a:solidFill>
                  <a:schemeClr val="tx2"/>
                </a:solidFill>
                <a:ea typeface="游ゴシック"/>
              </a:rPr>
              <a:t>必要なデータ</a:t>
            </a:r>
          </a:p>
          <a:p>
            <a:r>
              <a:rPr lang="ja-JP" altLang="en-US" sz="3600">
                <a:solidFill>
                  <a:schemeClr val="tx2"/>
                </a:solidFill>
                <a:ea typeface="游ゴシック"/>
              </a:rPr>
              <a:t>教室名（略称もあれば）</a:t>
            </a:r>
          </a:p>
          <a:p>
            <a:r>
              <a:rPr lang="ja-JP" altLang="en-US" sz="3600">
                <a:solidFill>
                  <a:schemeClr val="tx2"/>
                </a:solidFill>
                <a:ea typeface="游ゴシック"/>
              </a:rPr>
              <a:t>建物名</a:t>
            </a:r>
          </a:p>
          <a:p>
            <a:r>
              <a:rPr lang="ja-JP" altLang="en-US" sz="3600">
                <a:solidFill>
                  <a:schemeClr val="tx2"/>
                </a:solidFill>
                <a:ea typeface="游ゴシック"/>
              </a:rPr>
              <a:t>建物入り口の緯度</a:t>
            </a:r>
          </a:p>
          <a:p>
            <a:r>
              <a:rPr lang="ja-JP" altLang="en-US" sz="3600">
                <a:solidFill>
                  <a:schemeClr val="tx2"/>
                </a:solidFill>
                <a:ea typeface="游ゴシック"/>
              </a:rPr>
              <a:t>建物入り口の経度</a:t>
            </a:r>
          </a:p>
          <a:p>
            <a:endParaRPr lang="ja-JP" altLang="en-US" sz="1800">
              <a:solidFill>
                <a:schemeClr val="tx2"/>
              </a:solidFill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810514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4216CBE-01B3-0055-D73A-3688A2AF1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670" y="1433513"/>
            <a:ext cx="4796313" cy="4371974"/>
          </a:xfrm>
        </p:spPr>
        <p:txBody>
          <a:bodyPr>
            <a:normAutofit/>
          </a:bodyPr>
          <a:lstStyle/>
          <a:p>
            <a:r>
              <a:rPr lang="ja-JP" altLang="en-US" b="1">
                <a:solidFill>
                  <a:schemeClr val="tx2"/>
                </a:solidFill>
                <a:ea typeface="游ゴシック Light"/>
              </a:rPr>
              <a:t>教授名検索の仕様</a:t>
            </a:r>
            <a:endParaRPr kumimoji="1" lang="en-US" b="1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1A0BD-D7B6-2DA4-3990-71A13B5D1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6888" y="1007078"/>
            <a:ext cx="6602347" cy="523036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ja-JP" altLang="en-US" sz="3200">
                <a:solidFill>
                  <a:schemeClr val="tx2"/>
                </a:solidFill>
                <a:ea typeface="游ゴシック"/>
              </a:rPr>
              <a:t>教授名を検索すると、その教授の部屋がある建物を表示する</a:t>
            </a:r>
            <a:endParaRPr lang="en-US" sz="3200">
              <a:solidFill>
                <a:schemeClr val="tx2"/>
              </a:solidFill>
              <a:ea typeface="游ゴシック"/>
            </a:endParaRPr>
          </a:p>
          <a:p>
            <a:endParaRPr lang="ja-JP" altLang="en-US" sz="3200">
              <a:solidFill>
                <a:schemeClr val="tx2"/>
              </a:solidFill>
              <a:ea typeface="游ゴシック"/>
            </a:endParaRPr>
          </a:p>
          <a:p>
            <a:pPr marL="0" indent="0">
              <a:buNone/>
            </a:pPr>
            <a:r>
              <a:rPr lang="ja-JP" altLang="en-US" sz="3200">
                <a:solidFill>
                  <a:schemeClr val="tx2"/>
                </a:solidFill>
                <a:ea typeface="游ゴシック"/>
              </a:rPr>
              <a:t>必要なデータ</a:t>
            </a:r>
          </a:p>
          <a:p>
            <a:r>
              <a:rPr lang="ja-JP" altLang="en-US" sz="3200">
                <a:solidFill>
                  <a:schemeClr val="tx2"/>
                </a:solidFill>
                <a:ea typeface="游ゴシック"/>
              </a:rPr>
              <a:t>教授名</a:t>
            </a:r>
          </a:p>
          <a:p>
            <a:r>
              <a:rPr lang="ja-JP" altLang="en-US" sz="3200">
                <a:solidFill>
                  <a:schemeClr val="tx2"/>
                </a:solidFill>
                <a:ea typeface="游ゴシック"/>
              </a:rPr>
              <a:t>教授の部屋名</a:t>
            </a:r>
          </a:p>
          <a:p>
            <a:r>
              <a:rPr lang="ja-JP" altLang="en-US" sz="3200">
                <a:solidFill>
                  <a:schemeClr val="tx2"/>
                </a:solidFill>
                <a:ea typeface="游ゴシック"/>
              </a:rPr>
              <a:t>建物名</a:t>
            </a:r>
          </a:p>
          <a:p>
            <a:r>
              <a:rPr lang="ja-JP" altLang="en-US" sz="3200">
                <a:solidFill>
                  <a:schemeClr val="tx2"/>
                </a:solidFill>
                <a:ea typeface="游ゴシック"/>
              </a:rPr>
              <a:t>建物入り口の緯度</a:t>
            </a:r>
          </a:p>
          <a:p>
            <a:r>
              <a:rPr lang="ja-JP" altLang="en-US" sz="3200">
                <a:solidFill>
                  <a:schemeClr val="tx2"/>
                </a:solidFill>
                <a:ea typeface="游ゴシック"/>
              </a:rPr>
              <a:t>建物入り口の経度</a:t>
            </a:r>
          </a:p>
        </p:txBody>
      </p:sp>
    </p:spTree>
    <p:extLst>
      <p:ext uri="{BB962C8B-B14F-4D97-AF65-F5344CB8AC3E}">
        <p14:creationId xmlns:p14="http://schemas.microsoft.com/office/powerpoint/2010/main" val="939106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418108-E982-7CC4-B126-C437C5383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320" y="594582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ja-JP" altLang="en-US" b="1">
                <a:solidFill>
                  <a:schemeClr val="tx2"/>
                </a:solidFill>
                <a:ea typeface="游ゴシック Light"/>
              </a:rPr>
              <a:t>データ管理方法,ファイル構成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053F5-5F5B-B40F-1740-87D8862A4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5689" y="1927542"/>
            <a:ext cx="9845454" cy="285017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ja-JP" altLang="en-US" sz="4000">
                <a:solidFill>
                  <a:schemeClr val="tx2"/>
                </a:solidFill>
                <a:ea typeface="游ゴシック"/>
              </a:rPr>
              <a:t>教室情報と教授情報は分割管理する</a:t>
            </a:r>
          </a:p>
          <a:p>
            <a:endParaRPr lang="ja-JP" altLang="en-US" sz="4000">
              <a:solidFill>
                <a:schemeClr val="tx2"/>
              </a:solidFill>
              <a:ea typeface="游ゴシック"/>
            </a:endParaRPr>
          </a:p>
          <a:p>
            <a:pPr marL="0" indent="0">
              <a:buNone/>
            </a:pPr>
            <a:r>
              <a:rPr lang="ja-JP" altLang="en-US" sz="4000">
                <a:solidFill>
                  <a:schemeClr val="tx2"/>
                </a:solidFill>
                <a:ea typeface="游ゴシック"/>
              </a:rPr>
              <a:t>classroomDate.xlsx</a:t>
            </a:r>
          </a:p>
          <a:p>
            <a:pPr marL="0" indent="0">
              <a:buNone/>
            </a:pPr>
            <a:r>
              <a:rPr lang="ja-JP" altLang="en-US" sz="4000">
                <a:solidFill>
                  <a:schemeClr val="tx2"/>
                </a:solidFill>
                <a:ea typeface="游ゴシック"/>
              </a:rPr>
              <a:t>ProfessorData.xlsx</a:t>
            </a:r>
          </a:p>
          <a:p>
            <a:pPr marL="0" indent="0">
              <a:buNone/>
            </a:pPr>
            <a:r>
              <a:rPr lang="ja-JP" altLang="en-US" sz="4000">
                <a:solidFill>
                  <a:schemeClr val="tx2"/>
                </a:solidFill>
                <a:ea typeface="游ゴシック"/>
              </a:rPr>
              <a:t>↓</a:t>
            </a:r>
          </a:p>
          <a:p>
            <a:pPr marL="0" indent="0">
              <a:buNone/>
            </a:pPr>
            <a:r>
              <a:rPr lang="ja-JP" sz="4000">
                <a:solidFill>
                  <a:schemeClr val="tx2"/>
                </a:solidFill>
                <a:ea typeface="游ゴシック"/>
              </a:rPr>
              <a:t>classroomDate.</a:t>
            </a:r>
            <a:r>
              <a:rPr lang="en-US" altLang="ja-JP" sz="4000">
                <a:solidFill>
                  <a:schemeClr val="tx2"/>
                </a:solidFill>
                <a:ea typeface="游ゴシック"/>
              </a:rPr>
              <a:t>csv</a:t>
            </a:r>
            <a:endParaRPr lang="ja-JP" sz="4000">
              <a:solidFill>
                <a:schemeClr val="tx2"/>
              </a:solidFill>
              <a:ea typeface="游ゴシック"/>
            </a:endParaRPr>
          </a:p>
          <a:p>
            <a:pPr marL="0" indent="0">
              <a:buNone/>
            </a:pPr>
            <a:r>
              <a:rPr lang="ja-JP" sz="4000">
                <a:solidFill>
                  <a:schemeClr val="tx2"/>
                </a:solidFill>
                <a:ea typeface="游ゴシック"/>
              </a:rPr>
              <a:t>ProfessorData.</a:t>
            </a:r>
            <a:r>
              <a:rPr lang="en-US" altLang="ja-JP" sz="4000">
                <a:solidFill>
                  <a:schemeClr val="tx2"/>
                </a:solidFill>
                <a:ea typeface="游ゴシック"/>
              </a:rPr>
              <a:t>csv</a:t>
            </a:r>
          </a:p>
          <a:p>
            <a:pPr marL="0" indent="0">
              <a:buNone/>
            </a:pPr>
            <a:endParaRPr lang="ja-JP" altLang="en-US" sz="4000">
              <a:solidFill>
                <a:schemeClr val="tx2"/>
              </a:solidFill>
              <a:ea typeface="游ゴシック"/>
            </a:endParaRPr>
          </a:p>
          <a:p>
            <a:endParaRPr lang="ja-JP" altLang="en-US" sz="4000">
              <a:solidFill>
                <a:schemeClr val="tx2"/>
              </a:solidFill>
              <a:ea typeface="游ゴシック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41138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DBF50F6-DD88-4D9F-B7D3-79B989980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6BBDC2-6929-469E-B7C4-A03E77BF9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D9C6E2-0FFE-FD63-579C-7638B9A91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926" y="748497"/>
            <a:ext cx="10640754" cy="775845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ja-JP" altLang="en-US" sz="4000" b="1" kern="1200">
                <a:solidFill>
                  <a:schemeClr val="tx2"/>
                </a:solidFill>
                <a:latin typeface="+mj-lt"/>
                <a:ea typeface="游ゴシック Light"/>
                <a:cs typeface="+mj-cs"/>
              </a:rPr>
              <a:t>教室</a:t>
            </a:r>
            <a:r>
              <a:rPr lang="en-US" altLang="ja-JP" sz="4000" b="1" kern="1200">
                <a:solidFill>
                  <a:schemeClr val="tx2"/>
                </a:solidFill>
                <a:latin typeface="+mj-lt"/>
                <a:ea typeface="游ゴシック Light"/>
                <a:cs typeface="+mj-cs"/>
              </a:rPr>
              <a:t>Excel</a:t>
            </a:r>
            <a:r>
              <a:rPr lang="ja-JP" altLang="en-US" sz="4000" b="1" kern="1200">
                <a:solidFill>
                  <a:schemeClr val="tx2"/>
                </a:solidFill>
                <a:latin typeface="+mj-lt"/>
                <a:ea typeface="游ゴシック Light"/>
                <a:cs typeface="+mj-cs"/>
              </a:rPr>
              <a:t>記入例</a:t>
            </a:r>
            <a:br>
              <a:rPr lang="ja-JP" altLang="en-US" sz="4000" b="1" kern="1200"/>
            </a:br>
            <a:r>
              <a:rPr lang="en-US" altLang="ja-JP" sz="4000" b="1" kern="1200">
                <a:solidFill>
                  <a:schemeClr val="tx2"/>
                </a:solidFill>
                <a:latin typeface="+mj-lt"/>
                <a:ea typeface="游ゴシック Light"/>
                <a:cs typeface="+mj-cs"/>
              </a:rPr>
              <a:t>(</a:t>
            </a:r>
            <a:r>
              <a:rPr lang="ja-JP" altLang="en-US" sz="4000" b="1" kern="1200">
                <a:solidFill>
                  <a:schemeClr val="tx2"/>
                </a:solidFill>
                <a:latin typeface="+mj-lt"/>
                <a:ea typeface="游ゴシック Light"/>
                <a:cs typeface="+mj-cs"/>
              </a:rPr>
              <a:t>緯度、経度は正しくないです</a:t>
            </a:r>
            <a:r>
              <a:rPr lang="en-US" altLang="ja-JP" sz="4000" b="1" kern="1200">
                <a:solidFill>
                  <a:schemeClr val="tx2"/>
                </a:solidFill>
                <a:latin typeface="+mj-lt"/>
                <a:ea typeface="游ゴシック Light"/>
                <a:cs typeface="+mj-cs"/>
              </a:rPr>
              <a:t>)</a:t>
            </a:r>
            <a:endParaRPr lang="en-US" sz="4000" b="1" kern="1200">
              <a:solidFill>
                <a:schemeClr val="tx2"/>
              </a:solidFill>
              <a:latin typeface="+mj-lt"/>
              <a:ea typeface="游ゴシック Light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344E6B5-C9F5-4338-9E33-003B12373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6402" y="170309"/>
            <a:ext cx="2514948" cy="2174333"/>
            <a:chOff x="-305" y="-4155"/>
            <a:chExt cx="2514948" cy="2174333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90B0F8D-9E81-4DE8-95D5-1A26E9390D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30BA43A-83E9-4C67-92A6-F247FB370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F3A0CC-EBFE-405D-B0C0-27DE361ED5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F2E853E-B55A-4FFD-B90E-6FB4F31BD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098BEC3C-36F7-98AB-672F-1E86C96537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7" y="2169319"/>
            <a:ext cx="11924921" cy="3356585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FDFEDBF7-8E2C-46B8-9095-AE1D77E2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130554" y="4560733"/>
            <a:ext cx="3061445" cy="2297266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02872-FBB0-4F11-BC49-9FB400B21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DEB2F40-D411-4D44-9638-AE0342C7F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07F7D91-A991-4196-AF73-327E04B562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78739A9-E67C-40E5-9468-0A68AEC54E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5720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9A85BB-7741-6845-E291-69EA9C008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pPr algn="ctr"/>
            <a:r>
              <a:rPr lang="ja-JP" altLang="en-US" sz="3700" b="1">
                <a:solidFill>
                  <a:schemeClr val="tx2"/>
                </a:solidFill>
                <a:ea typeface="游ゴシック Light"/>
              </a:rPr>
              <a:t>教授Excel記入例</a:t>
            </a:r>
            <a:br>
              <a:rPr lang="ja-JP" altLang="en-US" sz="3700" b="1">
                <a:ea typeface="游ゴシック Light"/>
              </a:rPr>
            </a:br>
            <a:r>
              <a:rPr lang="ja-JP" altLang="en-US" sz="3700" b="1">
                <a:solidFill>
                  <a:schemeClr val="tx2"/>
                </a:solidFill>
                <a:ea typeface="游ゴシック Light"/>
              </a:rPr>
              <a:t>（緯度、経度は正しくないです。）</a:t>
            </a:r>
            <a:endParaRPr lang="en-US" sz="3700" b="1">
              <a:solidFill>
                <a:schemeClr val="tx2"/>
              </a:solidFill>
              <a:ea typeface="游ゴシック Light" panose="02110004020202020204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6566969-F813-4CC5-B3E9-363D85B55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881264" y="-5116"/>
            <a:ext cx="3318648" cy="2490264"/>
            <a:chOff x="-305" y="-1"/>
            <a:chExt cx="3832880" cy="2876136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F8CF66C-45E2-456B-92B0-9E97A331D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65D590E-D70D-4D25-B853-D5208F2AA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231501E-3F84-4705-A001-13995FA6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2617E4-47FD-4C38-8F70-93BF9B125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217D733-97B6-4C43-AF0C-5E3CB0EA1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07887"/>
            <a:ext cx="2605762" cy="2252847"/>
            <a:chOff x="-305" y="-4155"/>
            <a:chExt cx="2514948" cy="217433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D288266-7E76-4D4A-BAAC-E233FA013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697F88A-8624-4BA2-AF06-E6C3A52F0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CA77163-C052-481C-9DCF-68C23ACAB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2B425B5-0A0E-4B85-B718-E5DA73431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AC0D45F-6745-4EFF-461B-D3F55EF1B0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325" t="-823" r="30" b="417"/>
          <a:stretch>
            <a:fillRect/>
          </a:stretch>
        </p:blipFill>
        <p:spPr>
          <a:xfrm>
            <a:off x="349155" y="1882685"/>
            <a:ext cx="11035762" cy="3088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CFFFB2-55F1-85EA-4041-D48AE4DAD6EF}"/>
              </a:ext>
            </a:extLst>
          </p:cNvPr>
          <p:cNvSpPr txBox="1"/>
          <p:nvPr/>
        </p:nvSpPr>
        <p:spPr>
          <a:xfrm>
            <a:off x="599198" y="6053132"/>
            <a:ext cx="1159149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>
                <a:ea typeface="+mn-lt"/>
                <a:cs typeface="+mn-lt"/>
                <a:hlinkClick r:id="rId3"/>
              </a:rPr>
              <a:t>教員・スタッフ</a:t>
            </a:r>
            <a:r>
              <a:rPr lang="en-US">
                <a:ea typeface="+mn-lt"/>
                <a:cs typeface="+mn-lt"/>
                <a:hlinkClick r:id="rId3"/>
              </a:rPr>
              <a:t> |</a:t>
            </a:r>
            <a:r>
              <a:rPr lang="en-US" altLang="ja-JP">
                <a:ea typeface="+mn-lt"/>
                <a:cs typeface="+mn-lt"/>
                <a:hlinkClick r:id="rId3"/>
              </a:rPr>
              <a:t> </a:t>
            </a:r>
            <a:r>
              <a:rPr lang="ja-JP" altLang="en-US" err="1">
                <a:ea typeface="+mn-lt"/>
                <a:cs typeface="+mn-lt"/>
                <a:hlinkClick r:id="rId3"/>
              </a:rPr>
              <a:t>在学生</a:t>
            </a:r>
            <a:r>
              <a:rPr lang="ja-JP" altLang="en-US">
                <a:ea typeface="+mn-lt"/>
                <a:cs typeface="+mn-lt"/>
                <a:hlinkClick r:id="rId3"/>
              </a:rPr>
              <a:t>の方</a:t>
            </a:r>
            <a:r>
              <a:rPr lang="en-US">
                <a:ea typeface="+mn-lt"/>
                <a:cs typeface="+mn-lt"/>
                <a:hlinkClick r:id="rId3"/>
              </a:rPr>
              <a:t> |</a:t>
            </a:r>
            <a:r>
              <a:rPr lang="en-US" altLang="ja-JP">
                <a:ea typeface="+mn-lt"/>
                <a:cs typeface="+mn-lt"/>
                <a:hlinkClick r:id="rId3"/>
              </a:rPr>
              <a:t> </a:t>
            </a:r>
            <a:r>
              <a:rPr lang="ja-JP" altLang="en-US">
                <a:ea typeface="+mn-lt"/>
                <a:cs typeface="+mn-lt"/>
                <a:hlinkClick r:id="rId3"/>
              </a:rPr>
              <a:t>愛媛大</a:t>
            </a:r>
            <a:r>
              <a:rPr lang="ja-JP" altLang="en-US" err="1">
                <a:ea typeface="+mn-lt"/>
                <a:cs typeface="+mn-lt"/>
                <a:hlinkClick r:id="rId3"/>
              </a:rPr>
              <a:t>学工学</a:t>
            </a:r>
            <a:r>
              <a:rPr lang="ja-JP" altLang="en-US">
                <a:ea typeface="+mn-lt"/>
                <a:cs typeface="+mn-lt"/>
                <a:hlinkClick r:id="rId3"/>
              </a:rPr>
              <a:t>部　コンピュータ科学コース</a:t>
            </a:r>
            <a:r>
              <a:rPr lang="en-US">
                <a:ea typeface="+mn-lt"/>
                <a:cs typeface="+mn-lt"/>
                <a:hlinkClick r:id="rId3"/>
              </a:rPr>
              <a:t>/</a:t>
            </a:r>
            <a:r>
              <a:rPr lang="ja-JP" altLang="en-US">
                <a:ea typeface="+mn-lt"/>
                <a:cs typeface="+mn-lt"/>
                <a:hlinkClick r:id="rId3"/>
              </a:rPr>
              <a:t>応用情報工学コース</a:t>
            </a:r>
            <a:r>
              <a:rPr lang="en-US">
                <a:ea typeface="+mn-lt"/>
                <a:cs typeface="+mn-lt"/>
                <a:hlinkClick r:id="rId3"/>
              </a:rPr>
              <a:t>/</a:t>
            </a:r>
            <a:r>
              <a:rPr lang="ja-JP" altLang="en-US">
                <a:ea typeface="+mn-lt"/>
                <a:cs typeface="+mn-lt"/>
                <a:hlinkClick r:id="rId3"/>
              </a:rPr>
              <a:t>デジタル情報人材育成特別プログラム</a:t>
            </a:r>
            <a:r>
              <a:rPr lang="ja-JP" altLang="en-US">
                <a:ea typeface="+mn-lt"/>
                <a:cs typeface="+mn-lt"/>
              </a:rPr>
              <a:t>　愛媛大学のホームページ在学生の方、各コースの紹介より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23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65082E-3302-05D2-FF7B-D1A47A4D5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393761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ja-JP" altLang="en-US" b="1">
                <a:solidFill>
                  <a:schemeClr val="tx2"/>
                </a:solidFill>
                <a:ea typeface="游ゴシック Light"/>
              </a:rPr>
              <a:t>緯度・経度の取得方法</a:t>
            </a:r>
            <a:endParaRPr lang="en-US">
              <a:solidFill>
                <a:schemeClr val="tx2"/>
              </a:solidFill>
              <a:ea typeface="游ゴシック Light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FB435-7710-CCFD-1126-8AA5E7194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241405"/>
            <a:ext cx="9833548" cy="269397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ja-JP" altLang="en-US" sz="3200">
                <a:solidFill>
                  <a:schemeClr val="tx2"/>
                </a:solidFill>
                <a:ea typeface="游ゴシック"/>
              </a:rPr>
              <a:t>地図サービスを利用して建物入り口の緯度・経度を取得する</a:t>
            </a:r>
            <a:endParaRPr lang="en-US" sz="3200">
              <a:solidFill>
                <a:schemeClr val="tx2"/>
              </a:solidFill>
              <a:ea typeface="游ゴシック"/>
            </a:endParaRPr>
          </a:p>
          <a:p>
            <a:r>
              <a:rPr lang="ja-JP" altLang="en-US" sz="3200">
                <a:solidFill>
                  <a:schemeClr val="tx2"/>
                </a:solidFill>
                <a:ea typeface="游ゴシック"/>
              </a:rPr>
              <a:t>サイト（</a:t>
            </a:r>
            <a:r>
              <a:rPr lang="ja-JP" sz="3200">
                <a:solidFill>
                  <a:schemeClr val="tx2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緯度経度地図</a:t>
            </a:r>
            <a:r>
              <a:rPr lang="ja-JP" altLang="en-US" sz="3200">
                <a:solidFill>
                  <a:schemeClr val="tx2"/>
                </a:solidFill>
                <a:ea typeface="游ゴシック"/>
              </a:rPr>
              <a:t>）内で建物入り口付近にピンを指して緯度・経度を取得する。</a:t>
            </a:r>
          </a:p>
          <a:p>
            <a:endParaRPr lang="ja-JP" altLang="en-US" sz="3200">
              <a:solidFill>
                <a:schemeClr val="tx2"/>
              </a:solidFill>
              <a:ea typeface="游ゴシック"/>
            </a:endParaRPr>
          </a:p>
          <a:p>
            <a:pPr marL="0" indent="0">
              <a:buNone/>
            </a:pPr>
            <a:r>
              <a:rPr lang="ja-JP" altLang="en-US" sz="3200" b="1">
                <a:solidFill>
                  <a:schemeClr val="tx2"/>
                </a:solidFill>
                <a:ea typeface="游ゴシック"/>
              </a:rPr>
              <a:t>作業手順</a:t>
            </a:r>
          </a:p>
          <a:p>
            <a:pPr marL="0" indent="0">
              <a:buNone/>
            </a:pPr>
            <a:r>
              <a:rPr lang="ja-JP" altLang="en-US" sz="3200">
                <a:solidFill>
                  <a:schemeClr val="tx2"/>
                </a:solidFill>
                <a:ea typeface="游ゴシック"/>
              </a:rPr>
              <a:t>建物検索</a:t>
            </a:r>
            <a:r>
              <a:rPr lang="ja-JP" altLang="en-US" sz="3200">
                <a:solidFill>
                  <a:srgbClr val="FF0000"/>
                </a:solidFill>
                <a:ea typeface="游ゴシック"/>
              </a:rPr>
              <a:t>→</a:t>
            </a:r>
            <a:r>
              <a:rPr lang="ja-JP" altLang="en-US" sz="3200">
                <a:solidFill>
                  <a:schemeClr val="tx2"/>
                </a:solidFill>
                <a:ea typeface="游ゴシック"/>
              </a:rPr>
              <a:t>地図確認</a:t>
            </a:r>
            <a:r>
              <a:rPr lang="ja-JP" altLang="en-US" sz="3200">
                <a:solidFill>
                  <a:srgbClr val="FF0000"/>
                </a:solidFill>
                <a:ea typeface="游ゴシック"/>
              </a:rPr>
              <a:t>→</a:t>
            </a:r>
            <a:r>
              <a:rPr lang="ja-JP" altLang="en-US" sz="3200">
                <a:solidFill>
                  <a:schemeClr val="tx2"/>
                </a:solidFill>
                <a:ea typeface="游ゴシック"/>
              </a:rPr>
              <a:t>経度緯度取得</a:t>
            </a:r>
            <a:r>
              <a:rPr lang="ja-JP" altLang="en-US" sz="3200">
                <a:solidFill>
                  <a:srgbClr val="FF0000"/>
                </a:solidFill>
                <a:ea typeface="游ゴシック"/>
              </a:rPr>
              <a:t>→</a:t>
            </a:r>
            <a:r>
              <a:rPr lang="ja-JP" altLang="en-US" sz="3200">
                <a:solidFill>
                  <a:schemeClr val="tx2"/>
                </a:solidFill>
                <a:ea typeface="游ゴシック"/>
              </a:rPr>
              <a:t>Excelへ入力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65668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A7C2C1-4F1A-B4B2-2F0A-C5BFF326E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531171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ja-JP" altLang="en-US" sz="4000" b="1">
                <a:solidFill>
                  <a:schemeClr val="tx2"/>
                </a:solidFill>
                <a:ea typeface="游ゴシック Light"/>
              </a:rPr>
              <a:t>データ受け渡し方法</a:t>
            </a:r>
            <a:endParaRPr kumimoji="1" lang="en-US" sz="4000" b="1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132E8-203C-D2DA-4BF0-7CC88A047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390" y="3328192"/>
            <a:ext cx="11857219" cy="26939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 sz="3600">
                <a:solidFill>
                  <a:schemeClr val="tx2"/>
                </a:solidFill>
                <a:ea typeface="游ゴシック"/>
              </a:rPr>
              <a:t>外製部ではExcel形式でデータを作成する。</a:t>
            </a:r>
            <a:endParaRPr lang="en-US" sz="3600">
              <a:solidFill>
                <a:schemeClr val="tx2"/>
              </a:solidFill>
              <a:ea typeface="游ゴシック"/>
            </a:endParaRPr>
          </a:p>
          <a:p>
            <a:r>
              <a:rPr lang="ja-JP" altLang="en-US" sz="3600">
                <a:solidFill>
                  <a:schemeClr val="tx2"/>
                </a:solidFill>
                <a:ea typeface="游ゴシック"/>
              </a:rPr>
              <a:t>受領後、開発側でCSVへ変換しWebアプリで利用する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0504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B34201-3160-9E57-B934-551A61424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595363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ja-JP" altLang="en-US" b="1">
                <a:solidFill>
                  <a:schemeClr val="tx2"/>
                </a:solidFill>
                <a:ea typeface="游ゴシック Light"/>
              </a:rPr>
              <a:t>想定される問題点</a:t>
            </a:r>
            <a:endParaRPr kumimoji="1" lang="en-US" b="1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36786-0564-ED24-0F8C-344E5750A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2996" y="2979907"/>
            <a:ext cx="9833548" cy="24572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 sz="4000">
                <a:solidFill>
                  <a:schemeClr val="tx2"/>
                </a:solidFill>
                <a:ea typeface="游ゴシック"/>
              </a:rPr>
              <a:t>建物名の表記ゆれ</a:t>
            </a:r>
          </a:p>
          <a:p>
            <a:r>
              <a:rPr lang="ja-JP" altLang="en-US" sz="4000">
                <a:solidFill>
                  <a:schemeClr val="tx2"/>
                </a:solidFill>
                <a:ea typeface="游ゴシック"/>
              </a:rPr>
              <a:t>緯度・経度取得ミス</a:t>
            </a:r>
          </a:p>
          <a:p>
            <a:r>
              <a:rPr lang="ja-JP" altLang="en-US" sz="4000">
                <a:solidFill>
                  <a:schemeClr val="tx2"/>
                </a:solidFill>
                <a:ea typeface="游ゴシック"/>
              </a:rPr>
              <a:t>CSV形式崩れ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3984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E716B98-ADE2-3CC2-4C9A-A1A4FFEA6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2908" y="1241097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ja-JP" altLang="en-US" b="1">
                <a:solidFill>
                  <a:schemeClr val="tx2"/>
                </a:solidFill>
                <a:ea typeface="游ゴシック Light"/>
              </a:rPr>
              <a:t>質問受付担当</a:t>
            </a:r>
            <a:endParaRPr kumimoji="1" lang="en-US" b="1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6C536-515F-B990-527A-E273F695D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447" y="3728844"/>
            <a:ext cx="12198856" cy="246715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 sz="4000">
                <a:solidFill>
                  <a:schemeClr val="tx2"/>
                </a:solidFill>
                <a:ea typeface="游ゴシック"/>
              </a:rPr>
              <a:t>外製ユニット担当：岡部優翔・篠崎心寧・坪田昌也</a:t>
            </a:r>
            <a:endParaRPr lang="ja-JP" altLang="en-US" sz="4000">
              <a:solidFill>
                <a:schemeClr val="tx2"/>
              </a:solidFill>
              <a:latin typeface="游明朝"/>
              <a:ea typeface="游明朝"/>
            </a:endParaRPr>
          </a:p>
          <a:p>
            <a:pPr marL="0" indent="0">
              <a:buNone/>
            </a:pPr>
            <a:endParaRPr lang="ja-JP" altLang="en-US" sz="2000">
              <a:solidFill>
                <a:schemeClr val="tx2"/>
              </a:solidFill>
              <a:latin typeface="游ゴシック"/>
              <a:ea typeface="游ゴシック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96846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84eacb-6eaf-42fd-8abc-1ff1c98705a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0A07308DFA70EA4F8384CEA0E004F8EB" ma:contentTypeVersion="9" ma:contentTypeDescription="新しいドキュメントを作成します。" ma:contentTypeScope="" ma:versionID="7a51c1e58cade833ee61a3beaf6cd749">
  <xsd:schema xmlns:xsd="http://www.w3.org/2001/XMLSchema" xmlns:xs="http://www.w3.org/2001/XMLSchema" xmlns:p="http://schemas.microsoft.com/office/2006/metadata/properties" xmlns:ns2="fa84eacb-6eaf-42fd-8abc-1ff1c98705aa" targetNamespace="http://schemas.microsoft.com/office/2006/metadata/properties" ma:root="true" ma:fieldsID="0d4eaec4baea0fbfde2c87cfda926c56" ns2:_="">
    <xsd:import namespace="fa84eacb-6eaf-42fd-8abc-1ff1c98705a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84eacb-6eaf-42fd-8abc-1ff1c98705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89cb7970-2062-4196-897d-8a824d21c0e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F8AD44-130A-4E0E-85F5-B6A151FC3C1A}">
  <ds:schemaRefs>
    <ds:schemaRef ds:uri="fa84eacb-6eaf-42fd-8abc-1ff1c98705aa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9C119A5-DE6D-4002-8179-172332C1810B}">
  <ds:schemaRefs>
    <ds:schemaRef ds:uri="fa84eacb-6eaf-42fd-8abc-1ff1c98705a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BC99DEE-1F4B-482D-9A84-7B7772E9342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テーマ</vt:lpstr>
      <vt:lpstr>ひめMAP</vt:lpstr>
      <vt:lpstr>Webアプリ概要</vt:lpstr>
      <vt:lpstr>システム利用イメージ</vt:lpstr>
      <vt:lpstr>外製部の役割と必要理由</vt:lpstr>
      <vt:lpstr>教室名検索の仕様</vt:lpstr>
      <vt:lpstr>教授名検索の仕様</vt:lpstr>
      <vt:lpstr>データ管理方法,ファイル構成</vt:lpstr>
      <vt:lpstr>教室Excel記入例 (緯度、経度は正しくないです)</vt:lpstr>
      <vt:lpstr>教授Excel記入例 （緯度、経度は正しくないです。）</vt:lpstr>
      <vt:lpstr>緯度・経度の取得方法</vt:lpstr>
      <vt:lpstr>データ受け渡し方法</vt:lpstr>
      <vt:lpstr>想定される問題点</vt:lpstr>
      <vt:lpstr>質問受付担当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TSUBOTA Masaya</dc:creator>
  <cp:revision>2</cp:revision>
  <dcterms:created xsi:type="dcterms:W3CDTF">2026-05-25T04:56:20Z</dcterms:created>
  <dcterms:modified xsi:type="dcterms:W3CDTF">2026-06-01T04:16:38Z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0x0101000A07308DFA70EA4F8384CEA0E004F8EB</vt:lpwstr>
  </property>
  <property fmtid="{D5CDD505-2E9C-101B-9397-08002B2CF9AE}" pid="3" name="MediaServiceImageTags">
    <vt:lpwstr/>
  </property>
</Properties>
</file>